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93EA-A55D-437A-94AA-1FD7B4381FC6}" type="datetimeFigureOut">
              <a:rPr lang="zh-CN" altLang="en-US" smtClean="0"/>
              <a:t>2022-04-13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E6E8-CD5C-466F-83DD-DF3E5D5E0B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186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93EA-A55D-437A-94AA-1FD7B4381FC6}" type="datetimeFigureOut">
              <a:rPr lang="zh-CN" altLang="en-US" smtClean="0"/>
              <a:t>2022-04-13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E6E8-CD5C-466F-83DD-DF3E5D5E0B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218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93EA-A55D-437A-94AA-1FD7B4381FC6}" type="datetimeFigureOut">
              <a:rPr lang="zh-CN" altLang="en-US" smtClean="0"/>
              <a:t>2022-04-13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E6E8-CD5C-466F-83DD-DF3E5D5E0B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98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93EA-A55D-437A-94AA-1FD7B4381FC6}" type="datetimeFigureOut">
              <a:rPr lang="zh-CN" altLang="en-US" smtClean="0"/>
              <a:t>2022-04-13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E6E8-CD5C-466F-83DD-DF3E5D5E0B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612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93EA-A55D-437A-94AA-1FD7B4381FC6}" type="datetimeFigureOut">
              <a:rPr lang="zh-CN" altLang="en-US" smtClean="0"/>
              <a:t>2022-04-13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E6E8-CD5C-466F-83DD-DF3E5D5E0B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776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93EA-A55D-437A-94AA-1FD7B4381FC6}" type="datetimeFigureOut">
              <a:rPr lang="zh-CN" altLang="en-US" smtClean="0"/>
              <a:t>2022-04-13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E6E8-CD5C-466F-83DD-DF3E5D5E0B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395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93EA-A55D-437A-94AA-1FD7B4381FC6}" type="datetimeFigureOut">
              <a:rPr lang="zh-CN" altLang="en-US" smtClean="0"/>
              <a:t>2022-04-13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E6E8-CD5C-466F-83DD-DF3E5D5E0B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7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93EA-A55D-437A-94AA-1FD7B4381FC6}" type="datetimeFigureOut">
              <a:rPr lang="zh-CN" altLang="en-US" smtClean="0"/>
              <a:t>2022-04-13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E6E8-CD5C-466F-83DD-DF3E5D5E0B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628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93EA-A55D-437A-94AA-1FD7B4381FC6}" type="datetimeFigureOut">
              <a:rPr lang="zh-CN" altLang="en-US" smtClean="0"/>
              <a:t>2022-04-13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E6E8-CD5C-466F-83DD-DF3E5D5E0B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35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93EA-A55D-437A-94AA-1FD7B4381FC6}" type="datetimeFigureOut">
              <a:rPr lang="zh-CN" altLang="en-US" smtClean="0"/>
              <a:t>2022-04-13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E6E8-CD5C-466F-83DD-DF3E5D5E0B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340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93EA-A55D-437A-94AA-1FD7B4381FC6}" type="datetimeFigureOut">
              <a:rPr lang="zh-CN" altLang="en-US" smtClean="0"/>
              <a:t>2022-04-13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E6E8-CD5C-466F-83DD-DF3E5D5E0B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525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B93EA-A55D-437A-94AA-1FD7B4381FC6}" type="datetimeFigureOut">
              <a:rPr lang="zh-CN" altLang="en-US" smtClean="0"/>
              <a:t>2022-04-13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0E6E8-CD5C-466F-83DD-DF3E5D5E0B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621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老虎机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6856141" cy="4351338"/>
          </a:xfrm>
        </p:spPr>
        <p:txBody>
          <a:bodyPr/>
          <a:lstStyle/>
          <a:p>
            <a:r>
              <a:rPr lang="zh-CN" altLang="en-US" dirty="0" smtClean="0"/>
              <a:t>随机产生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个符号，根据产生的符号组合计算相应的中奖金额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FF0000"/>
                </a:solidFill>
              </a:rPr>
              <a:t>第一</a:t>
            </a:r>
            <a:r>
              <a:rPr lang="zh-CN" altLang="en-US" dirty="0" smtClean="0">
                <a:solidFill>
                  <a:srgbClr val="FF0000"/>
                </a:solidFill>
              </a:rPr>
              <a:t>步</a:t>
            </a:r>
            <a:r>
              <a:rPr lang="zh-CN" altLang="en-US" dirty="0" smtClean="0"/>
              <a:t>：随机生成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个符号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钻石</a:t>
            </a:r>
            <a:r>
              <a:rPr lang="en-US" altLang="zh-CN" dirty="0" smtClean="0"/>
              <a:t>DD</a:t>
            </a:r>
            <a:r>
              <a:rPr lang="zh-CN" altLang="en-US" dirty="0" smtClean="0"/>
              <a:t>，七</a:t>
            </a:r>
            <a:r>
              <a:rPr lang="en-US" altLang="zh-CN" dirty="0" smtClean="0"/>
              <a:t>7</a:t>
            </a:r>
            <a:r>
              <a:rPr lang="zh-CN" altLang="en-US" dirty="0" smtClean="0"/>
              <a:t>，三条杠</a:t>
            </a:r>
            <a:r>
              <a:rPr lang="en-US" altLang="zh-CN" dirty="0" smtClean="0"/>
              <a:t>BBB</a:t>
            </a:r>
            <a:r>
              <a:rPr lang="zh-CN" altLang="en-US" dirty="0" smtClean="0"/>
              <a:t>，两条杠</a:t>
            </a:r>
            <a:r>
              <a:rPr lang="en-US" altLang="zh-CN" dirty="0" smtClean="0"/>
              <a:t>BB</a:t>
            </a:r>
            <a:r>
              <a:rPr lang="zh-CN" altLang="en-US" dirty="0" smtClean="0"/>
              <a:t>，一条杠</a:t>
            </a:r>
            <a:r>
              <a:rPr lang="en-US" altLang="zh-CN" dirty="0" smtClean="0"/>
              <a:t>B</a:t>
            </a:r>
            <a:r>
              <a:rPr lang="zh-CN" altLang="en-US" dirty="0" smtClean="0"/>
              <a:t>，樱桃</a:t>
            </a:r>
            <a:r>
              <a:rPr lang="en-US" altLang="zh-CN" dirty="0" smtClean="0"/>
              <a:t>C</a:t>
            </a:r>
            <a:r>
              <a:rPr lang="zh-CN" altLang="en-US" dirty="0" smtClean="0"/>
              <a:t>，零</a:t>
            </a:r>
            <a:r>
              <a:rPr lang="en-US" altLang="zh-CN" dirty="0" smtClean="0"/>
              <a:t>0</a:t>
            </a:r>
          </a:p>
          <a:p>
            <a:pPr lvl="1"/>
            <a:r>
              <a:rPr lang="zh-CN" altLang="en-US" dirty="0" smtClean="0"/>
              <a:t>每个符号出现的概率</a:t>
            </a:r>
            <a:r>
              <a:rPr lang="en-US" altLang="zh-CN" dirty="0" err="1" smtClean="0"/>
              <a:t>prob</a:t>
            </a:r>
            <a:r>
              <a:rPr lang="en-US" altLang="zh-CN" dirty="0" smtClean="0"/>
              <a:t>=c(0.03,0.03,0.06,0.1,0.25,0.01,0.52</a:t>
            </a:r>
            <a:r>
              <a:rPr lang="en-US" altLang="zh-CN" dirty="0"/>
              <a:t>)</a:t>
            </a:r>
            <a:endParaRPr lang="en-US" altLang="zh-CN" dirty="0" smtClean="0"/>
          </a:p>
          <a:p>
            <a:r>
              <a:rPr lang="zh-CN" altLang="en-US" dirty="0" smtClean="0"/>
              <a:t>第二步：计算奖金</a:t>
            </a:r>
            <a:endParaRPr lang="de-DE" altLang="zh-CN" dirty="0" smtClean="0"/>
          </a:p>
          <a:p>
            <a:pPr lvl="1"/>
            <a:r>
              <a:rPr lang="zh-CN" altLang="en-US" dirty="0"/>
              <a:t>钻石</a:t>
            </a:r>
            <a:r>
              <a:rPr lang="en-US" altLang="zh-CN" dirty="0" smtClean="0"/>
              <a:t>DD</a:t>
            </a:r>
            <a:r>
              <a:rPr lang="zh-CN" altLang="en-US" dirty="0" smtClean="0"/>
              <a:t>：加倍</a:t>
            </a:r>
            <a:endParaRPr lang="en-US" altLang="zh-CN" dirty="0" smtClean="0"/>
          </a:p>
          <a:p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860997"/>
              </p:ext>
            </p:extLst>
          </p:nvPr>
        </p:nvGraphicFramePr>
        <p:xfrm>
          <a:off x="8022478" y="586551"/>
          <a:ext cx="3331322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5661">
                  <a:extLst>
                    <a:ext uri="{9D8B030D-6E8A-4147-A177-3AD203B41FA5}">
                      <a16:colId xmlns:a16="http://schemas.microsoft.com/office/drawing/2014/main" val="3627440656"/>
                    </a:ext>
                  </a:extLst>
                </a:gridCol>
                <a:gridCol w="1665661">
                  <a:extLst>
                    <a:ext uri="{9D8B030D-6E8A-4147-A177-3AD203B41FA5}">
                      <a16:colId xmlns:a16="http://schemas.microsoft.com/office/drawing/2014/main" val="4134455312"/>
                    </a:ext>
                  </a:extLst>
                </a:gridCol>
              </a:tblGrid>
              <a:tr h="332305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组合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金额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154856"/>
                  </a:ext>
                </a:extLst>
              </a:tr>
              <a:tr h="279591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DD </a:t>
                      </a:r>
                      <a:r>
                        <a:rPr lang="en-US" altLang="zh-CN" dirty="0" err="1" smtClean="0"/>
                        <a:t>DD</a:t>
                      </a:r>
                      <a:r>
                        <a:rPr lang="en-US" altLang="zh-CN" dirty="0" smtClean="0"/>
                        <a:t> </a:t>
                      </a:r>
                      <a:r>
                        <a:rPr lang="en-US" altLang="zh-CN" dirty="0" err="1" smtClean="0"/>
                        <a:t>DD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283422"/>
                  </a:ext>
                </a:extLst>
              </a:tr>
              <a:tr h="279591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7 7 7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80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019672"/>
                  </a:ext>
                </a:extLst>
              </a:tr>
              <a:tr h="279591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BBB</a:t>
                      </a:r>
                      <a:r>
                        <a:rPr lang="de-DE" altLang="zh-CN" baseline="0" dirty="0" smtClean="0"/>
                        <a:t> BBB BBB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CN" dirty="0" smtClean="0"/>
                        <a:t>40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140011"/>
                  </a:ext>
                </a:extLst>
              </a:tr>
              <a:tr h="279591">
                <a:tc>
                  <a:txBody>
                    <a:bodyPr/>
                    <a:lstStyle/>
                    <a:p>
                      <a:r>
                        <a:rPr lang="de-DE" altLang="zh-CN" dirty="0" smtClean="0"/>
                        <a:t>BB BB BB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CN" dirty="0" smtClean="0"/>
                        <a:t>25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032720"/>
                  </a:ext>
                </a:extLst>
              </a:tr>
              <a:tr h="279591">
                <a:tc>
                  <a:txBody>
                    <a:bodyPr/>
                    <a:lstStyle/>
                    <a:p>
                      <a:r>
                        <a:rPr lang="de-DE" altLang="zh-CN" dirty="0" smtClean="0"/>
                        <a:t>B B 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CN" dirty="0" smtClean="0"/>
                        <a:t>10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994667"/>
                  </a:ext>
                </a:extLst>
              </a:tr>
              <a:tr h="279591">
                <a:tc>
                  <a:txBody>
                    <a:bodyPr/>
                    <a:lstStyle/>
                    <a:p>
                      <a:r>
                        <a:rPr lang="de-DE" altLang="zh-CN" dirty="0" smtClean="0"/>
                        <a:t>C C 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CN" dirty="0" smtClean="0"/>
                        <a:t>10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78957"/>
                  </a:ext>
                </a:extLst>
              </a:tr>
              <a:tr h="279591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杠的组合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666770"/>
                  </a:ext>
                </a:extLst>
              </a:tr>
              <a:tr h="279591">
                <a:tc>
                  <a:txBody>
                    <a:bodyPr/>
                    <a:lstStyle/>
                    <a:p>
                      <a:r>
                        <a:rPr lang="de-DE" altLang="zh-CN" dirty="0" smtClean="0"/>
                        <a:t>CC*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CN" dirty="0" smtClean="0"/>
                        <a:t>5</a:t>
                      </a:r>
                      <a:endParaRPr lang="en-US" altLang="zh-CN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451762"/>
                  </a:ext>
                </a:extLst>
              </a:tr>
              <a:tr h="279591">
                <a:tc>
                  <a:txBody>
                    <a:bodyPr/>
                    <a:lstStyle/>
                    <a:p>
                      <a:r>
                        <a:rPr lang="de-DE" altLang="zh-CN" dirty="0" smtClean="0"/>
                        <a:t>C*C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CN" dirty="0" smtClean="0"/>
                        <a:t>5</a:t>
                      </a:r>
                      <a:endParaRPr lang="en-US" altLang="zh-CN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144869"/>
                  </a:ext>
                </a:extLst>
              </a:tr>
              <a:tr h="279591">
                <a:tc>
                  <a:txBody>
                    <a:bodyPr/>
                    <a:lstStyle/>
                    <a:p>
                      <a:r>
                        <a:rPr lang="de-DE" altLang="zh-CN" dirty="0" smtClean="0"/>
                        <a:t>*CC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CN" dirty="0" smtClean="0"/>
                        <a:t>5</a:t>
                      </a:r>
                      <a:endParaRPr lang="en-US" altLang="zh-CN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668753"/>
                  </a:ext>
                </a:extLst>
              </a:tr>
              <a:tr h="279591">
                <a:tc>
                  <a:txBody>
                    <a:bodyPr/>
                    <a:lstStyle/>
                    <a:p>
                      <a:r>
                        <a:rPr lang="de-DE" altLang="zh-CN" dirty="0" smtClean="0"/>
                        <a:t>C**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CN" dirty="0" smtClean="0"/>
                        <a:t>2</a:t>
                      </a:r>
                      <a:endParaRPr lang="en-US" altLang="zh-CN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178772"/>
                  </a:ext>
                </a:extLst>
              </a:tr>
              <a:tr h="279591">
                <a:tc>
                  <a:txBody>
                    <a:bodyPr/>
                    <a:lstStyle/>
                    <a:p>
                      <a:r>
                        <a:rPr lang="de-DE" altLang="zh-CN" dirty="0" smtClean="0"/>
                        <a:t>*C*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CN" dirty="0" smtClean="0"/>
                        <a:t>2</a:t>
                      </a:r>
                      <a:endParaRPr lang="en-US" altLang="zh-CN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474396"/>
                  </a:ext>
                </a:extLst>
              </a:tr>
              <a:tr h="279591">
                <a:tc>
                  <a:txBody>
                    <a:bodyPr/>
                    <a:lstStyle/>
                    <a:p>
                      <a:r>
                        <a:rPr lang="de-DE" altLang="zh-CN" dirty="0" smtClean="0"/>
                        <a:t>**C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altLang="zh-CN" dirty="0" smtClean="0"/>
                        <a:t>2</a:t>
                      </a:r>
                      <a:endParaRPr lang="en-US" altLang="zh-CN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409231"/>
                  </a:ext>
                </a:extLst>
              </a:tr>
              <a:tr h="279591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061290"/>
                  </a:ext>
                </a:extLst>
              </a:tr>
              <a:tr h="279591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519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6690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、获得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个图片 </a:t>
            </a:r>
            <a:r>
              <a:rPr lang="en-US" altLang="zh-CN" dirty="0" err="1" smtClean="0"/>
              <a:t>symble</a:t>
            </a:r>
            <a:r>
              <a:rPr lang="zh-CN" altLang="en-US" dirty="0" smtClean="0"/>
              <a:t>（）：根据</a:t>
            </a:r>
            <a:r>
              <a:rPr lang="en-US" altLang="zh-CN" dirty="0" err="1" smtClean="0"/>
              <a:t>prob</a:t>
            </a:r>
            <a:r>
              <a:rPr lang="en-US" altLang="zh-CN" dirty="0" smtClean="0"/>
              <a:t> </a:t>
            </a:r>
            <a:r>
              <a:rPr lang="zh-CN" altLang="en-US" dirty="0" smtClean="0"/>
              <a:t>得到图片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score</a:t>
            </a:r>
            <a:r>
              <a:rPr lang="de-DE" altLang="zh-CN" dirty="0" smtClean="0"/>
              <a:t>()</a:t>
            </a:r>
            <a:r>
              <a:rPr lang="zh-CN" altLang="en-US" dirty="0" smtClean="0"/>
              <a:t>：根据</a:t>
            </a:r>
            <a:r>
              <a:rPr lang="en-US" altLang="zh-CN" dirty="0" err="1" smtClean="0"/>
              <a:t>symble</a:t>
            </a:r>
            <a:r>
              <a:rPr lang="zh-CN" altLang="en-US" dirty="0" smtClean="0"/>
              <a:t>函数得到的结果，计算出奖励值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en-US" altLang="zh-CN" dirty="0" smtClean="0"/>
              <a:t>run</a:t>
            </a:r>
            <a:r>
              <a:rPr lang="zh-CN" altLang="en-US" dirty="0" smtClean="0"/>
              <a:t>（）：</a:t>
            </a:r>
            <a:r>
              <a:rPr lang="en-US" altLang="zh-CN" dirty="0" err="1" smtClean="0"/>
              <a:t>symble</a:t>
            </a:r>
            <a:r>
              <a:rPr lang="en-US" altLang="zh-CN" dirty="0" smtClean="0"/>
              <a:t>+</a:t>
            </a:r>
            <a:r>
              <a:rPr lang="en-US" altLang="zh-CN" dirty="0"/>
              <a:t> </a:t>
            </a:r>
            <a:r>
              <a:rPr lang="en-US" altLang="zh-CN" dirty="0" smtClean="0"/>
              <a:t>score</a:t>
            </a:r>
            <a:r>
              <a:rPr lang="de-DE" altLang="zh-CN" dirty="0"/>
              <a:t> </a:t>
            </a:r>
            <a:r>
              <a:rPr lang="de-DE" altLang="zh-CN" dirty="0" smtClean="0"/>
              <a:t> </a:t>
            </a:r>
          </a:p>
          <a:p>
            <a:endParaRPr lang="de-DE" altLang="zh-CN" dirty="0" smtClean="0"/>
          </a:p>
          <a:p>
            <a:r>
              <a:rPr lang="en-US" altLang="zh-CN" dirty="0" smtClean="0"/>
              <a:t>Sample</a:t>
            </a:r>
            <a:r>
              <a:rPr lang="zh-CN" altLang="en-US" dirty="0" smtClean="0"/>
              <a:t>、</a:t>
            </a:r>
            <a:r>
              <a:rPr lang="en-US" altLang="zh-CN" dirty="0" smtClean="0"/>
              <a:t>unique</a:t>
            </a:r>
            <a:r>
              <a:rPr lang="zh-CN" altLang="en-US" dirty="0" smtClean="0"/>
              <a:t>、</a:t>
            </a:r>
            <a:endParaRPr lang="de-DE" altLang="zh-CN" dirty="0"/>
          </a:p>
          <a:p>
            <a:endParaRPr lang="de-DE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7629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特征：</a:t>
            </a:r>
            <a:r>
              <a:rPr lang="en-US" altLang="zh-CN" dirty="0" smtClean="0"/>
              <a:t>X Y</a:t>
            </a:r>
          </a:p>
          <a:p>
            <a:r>
              <a:rPr lang="zh-CN" altLang="en-US" dirty="0" smtClean="0"/>
              <a:t>分类，离散</a:t>
            </a:r>
            <a:endParaRPr lang="en-US" altLang="zh-CN" dirty="0" smtClean="0"/>
          </a:p>
          <a:p>
            <a:r>
              <a:rPr lang="zh-CN" altLang="en-US" dirty="0" smtClean="0"/>
              <a:t>连续、数字</a:t>
            </a:r>
            <a:endParaRPr lang="en-US" altLang="zh-CN" dirty="0" smtClean="0"/>
          </a:p>
          <a:p>
            <a:r>
              <a:rPr lang="zh-CN" altLang="en-US" dirty="0" smtClean="0"/>
              <a:t>空值，</a:t>
            </a:r>
            <a:r>
              <a:rPr lang="en-US" altLang="zh-CN" dirty="0" smtClean="0"/>
              <a:t>Y</a:t>
            </a:r>
            <a:r>
              <a:rPr lang="zh-CN" altLang="en-US" dirty="0" smtClean="0"/>
              <a:t>：删除</a:t>
            </a:r>
            <a:endParaRPr lang="en-US" altLang="zh-CN" dirty="0" smtClean="0"/>
          </a:p>
          <a:p>
            <a:r>
              <a:rPr lang="zh-CN" altLang="en-US" dirty="0" smtClean="0"/>
              <a:t>空值，</a:t>
            </a:r>
            <a:r>
              <a:rPr lang="en-US" altLang="zh-CN" dirty="0" smtClean="0"/>
              <a:t>X</a:t>
            </a:r>
            <a:r>
              <a:rPr lang="zh-CN" altLang="en-US" dirty="0" smtClean="0"/>
              <a:t>：连续，分类</a:t>
            </a:r>
            <a:endParaRPr lang="en-US" altLang="zh-CN" dirty="0" smtClean="0"/>
          </a:p>
          <a:p>
            <a:r>
              <a:rPr lang="zh-CN" altLang="en-US" smtClean="0"/>
              <a:t>空值的比例问题：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8693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184</Words>
  <Application>Microsoft Office PowerPoint</Application>
  <PresentationFormat>宽屏</PresentationFormat>
  <Paragraphs>46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老虎机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老虎机</dc:title>
  <dc:creator>maxiyao</dc:creator>
  <cp:lastModifiedBy>maxiyao</cp:lastModifiedBy>
  <cp:revision>12</cp:revision>
  <dcterms:created xsi:type="dcterms:W3CDTF">2020-12-24T07:43:44Z</dcterms:created>
  <dcterms:modified xsi:type="dcterms:W3CDTF">2022-04-13T12:24:11Z</dcterms:modified>
</cp:coreProperties>
</file>